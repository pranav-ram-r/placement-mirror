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p50 ms</c:v>
                </c:pt>
              </c:strCache>
            </c:strRef>
          </c:tx>
          <c:dPt>
            <c:idx val="0"/>
            <c:spPr>
              <a:solidFill>
                <a:srgbClr val="A6A6A6"/>
              </a:solidFill>
            </c:spPr>
          </c:dPt>
          <c:dPt>
            <c:idx val="1"/>
            <c:spPr>
              <a:solidFill>
                <a:srgbClr val="A6A6A6"/>
              </a:solidFill>
            </c:spPr>
          </c:dPt>
          <c:dPt>
            <c:idx val="2"/>
            <c:spPr>
              <a:solidFill>
                <a:srgbClr val="D6001C"/>
              </a:solidFill>
            </c:spPr>
          </c:dPt>
          <c:cat>
            <c:strRef>
              <c:f>Sheet1!$A$2:$A$4</c:f>
              <c:strCache>
                <c:ptCount val="3"/>
                <c:pt idx="0">
                  <c:v>CPU</c:v>
                </c:pt>
                <c:pt idx="1">
                  <c:v>GPU</c:v>
                </c:pt>
                <c:pt idx="2">
                  <c:v>NPU</c:v>
                </c:pt>
              </c:strCache>
            </c:strRef>
          </c:cat>
          <c:val>
            <c:numRef>
              <c:f>Sheet1!$B$2:$B$4</c:f>
              <c:numCache>
                <c:formatCode>General</c:formatCode>
                <c:ptCount val="3"/>
                <c:pt idx="0">
                  <c:v>1449.791</c:v>
                </c:pt>
                <c:pt idx="1">
                  <c:v>392.2985</c:v>
                </c:pt>
                <c:pt idx="2">
                  <c:v>23.47</c:v>
                </c:pt>
              </c:numCache>
            </c:numRef>
          </c:val>
        </c:ser>
        <c:dLbls>
          <c:numFmt formatCode="#,##0.000&quot; ms&quot;" sourceLinked="0"/>
          <c:txPr>
            <a:bodyPr/>
            <a:lstStyle/>
            <a:p>
              <a:pPr>
                <a:defRPr sz="1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crossAx val="-2113994440"/>
        <c:crosses val="autoZero"/>
        <c:auto val="1"/>
        <c:lblAlgn val="ctr"/>
        <c:lblOffset val="100"/>
        <c:noMultiLvlLbl val="0"/>
      </c:catAx>
      <c:valAx>
        <c:axId val="-2113994440"/>
        <c:scaling>
          <c:logBase val="10"/>
          <c:max val="10000.0"/>
          <c:min val="10.0"/>
        </c:scaling>
        <c:delete/>
        <c:axPos val="b"/>
        <c:majorTickMark val="out"/>
        <c:minorTickMark val="none"/>
        <c:tickLblPos val="nextTo"/>
        <c:crossAx val="-2068027336"/>
        <c:crosses val="autoZero"/>
      </c:valAx>
    </c:plotArea>
    <c:dispBlanksAs val="gap"/>
  </c:chart>
  <c:txPr>
    <a:bodyPr/>
    <a:lstStyle/>
    <a:p>
      <a:pPr>
        <a:defRPr sz="1800">
          <a:solidFill>
            <a:srgbClr val="1A1A1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Placement Mirror. Real-time on-device interview delivery coach for Snapdragon PCs. Pranav Ram, IIT Gandhinagar. All performance numbers were measured on Snapdragon X Elite hardware through Qualcomm AI Hub. Built without a Snapdragon laptop, using Qualcomm AI Hub hosted devices for all compile, profile and benchmark jobs, with a Windows ARM64 build verified in CI. Code: https://github.com/Pranav-Ram-R/placement-mirror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placement season, students rehearse what to say and rarely rehearse how they say it. A mock interview with a senior happens once or twice, if at all, and recording yourself means watching it back alone. I am preparing for internship interviews myself, and I built Placement Mirror so that any student with a laptop gets a coach that watches their delivery live, for as many practice rounds as they need, without their face or voice ever leaving the device.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a question from HR, software or core hardware, sit as in an interview and calibrate while looking at the camera, then answer. The indicators update live. Everything runs on the laptop. Screenshot: development machine in CPU fallback mode, replay of a recorded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answer the report charts facing the camera, face not visible, posture and words per minute per 10 s window, shows the transcript with fillers and long pauses marked, and lists three things to work on. Guidelines: author's coaching defaults, configurable, not validated against outcomes. The history page tracks the trend across answers. Screenshot: development machine in CPU fallback mode, replay of a recorded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camera models run on every frame while speech recognition runs on each speech segment, both for the whole answer. For the same onnx float32 whisper_tiny encoder, the p50 is 1,449.791 ms on the CPU, 392.299 ms on the GPU and 23.470 ms on the NPU, so the CPU takes 61.77x as long (Derived: CPU p50 / NPU p50). Running on the device keeps video and audio on the laptop, and the app works with the network off. The GPU run placed 6 ops on the CPU. The shipping encoder (23.739 ms) is on the performance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Planned placement from the AI Hub results, not yet validated on device. The face detector runs only when the landmark track is lost, the face landmarks run on every frame, pose runs at 15 fps. Voice activity detection owns the timing and Whisper tiny runs once per speech segment. Head pose, posture and the speech metrics are numpy rules on the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Shipping configuration, p50 and p95 over 100 iterations, AI Hub hosted Snapdragon X Elite. Vision per frame, steady state: face landmark p50 + pose landmark p50 x 15 / 30 = 0.603 ms, 1.81 % of the 33.3 ms frame interval at 30 fps (Derived). The detectors run only when tracking is lost and are left out. Speech recognition per segment: encoder p50 + n x decoder p50 = 23.739 + n x 2.375 ms, where n is the number of decoder calls (Derived, n left open). Encoder jp0mxyj2g, decoder j57e8z9qp, face detector jpe776l05, face landmark jgzllz465, pose detector jp2rrvorg, pose landmark jpyoo7885.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2x2 grid of whisper_tiny encoder and decoder p50 on the NPU, one profile job per cell. onnx float16 was rejected at compile submission: the --quantize_full_type option is not supported for target_runtime ONNX. Storage effect within precompiled: decoder -1211.5 us (-33.78 %), encoder +1269.5 us (+5.35 %), Derived. Bytes per decoder call: 23,530,892 against 11,765,450 bytes (Derived from tensor shapes, not measured). In the layer profile, from a separate 2-iteration instrumented run with an undocumented unit, the extra float32 time sits at the graph input and output layers and at the first layer that reads each cross attention cache. Not explained: the float16 encoder slowdown, the float16 decoder's higher peak memory, and why precompiled float32 is slower than onnx float32.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Eye contact was measured on a recorded clip on the development machine, using the shipped ONNX models and the app's head pose code: one scripted recording of one speaker, 1781 labeled frames, threshold 15.32 degrees chosen on the first half of every segment, balanced accuracy 0.966 on 589 held-out frames (368 facing, 221 not facing) on the second halves. Filler detection and speaking pace are measured on recorded clips on the development machine, using the same ONNX models and processing code that ship: filler detection not yet evaluated, speaking pace not yet evaluated. Never run on a Snapdragon device yet. Built without a Snapdragon laptop, using Qualcomm AI Hub hosted devices for all compile, profile and benchmark jobs, with a Windows ARM64 build verified in CI. ARM64 package 365,552,874 bytes (CI run 36465028091). In an offline check on the development machine, the app pages made 14 requests, 0 off loopback, and the app server attempted 0 connections off loopback (docs/evidence/offline_check.json).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yet validated on device: loading the AI Hub context binaries with the bundled QNN runtime, the app's own latency with Whisper and the vision models sharing the NPU, NPU float16 transcripts, and the fallback chain on real hardware. Other limits: one speaker in one room, small samples, head pose cannot separate camera from screen, coaching guidelines not validated against outcomes. Future work: content feedback from an on-device language model, more speakers.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554480"/>
            <a:ext cx="11277295" cy="1005840"/>
          </a:xfrm>
          <a:prstGeom prst="rect">
            <a:avLst/>
          </a:prstGeom>
          <a:noFill/>
        </p:spPr>
        <p:txBody>
          <a:bodyPr wrap="square" anchor="t" lIns="0" rIns="0" tIns="0" bIns="0">
            <a:spAutoFit/>
          </a:bodyPr>
          <a:lstStyle/>
          <a:p>
            <a:pPr algn="l">
              <a:spcAft>
                <a:spcPts val="800"/>
              </a:spcAft>
            </a:pPr>
            <a:r>
              <a:rPr sz="6000" b="1">
                <a:solidFill>
                  <a:srgbClr val="1A1A1A"/>
                </a:solidFill>
                <a:latin typeface="Calibri"/>
              </a:rPr>
              <a:t>Placement Mirror</a:t>
            </a:r>
          </a:p>
        </p:txBody>
      </p:sp>
      <p:sp>
        <p:nvSpPr>
          <p:cNvPr id="3" name="Rectangle 2"/>
          <p:cNvSpPr/>
          <p:nvPr/>
        </p:nvSpPr>
        <p:spPr>
          <a:xfrm>
            <a:off x="457200" y="2697480"/>
            <a:ext cx="1280160" cy="73152"/>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971800"/>
            <a:ext cx="11277295" cy="548640"/>
          </a:xfrm>
          <a:prstGeom prst="rect">
            <a:avLst/>
          </a:prstGeom>
          <a:noFill/>
        </p:spPr>
        <p:txBody>
          <a:bodyPr wrap="square" anchor="t" lIns="0" rIns="0" tIns="0" bIns="0">
            <a:spAutoFit/>
          </a:bodyPr>
          <a:lstStyle/>
          <a:p>
            <a:pPr algn="l">
              <a:spcAft>
                <a:spcPts val="800"/>
              </a:spcAft>
            </a:pPr>
            <a:r>
              <a:rPr sz="2800" b="0">
                <a:solidFill>
                  <a:srgbClr val="1A1A1A"/>
                </a:solidFill>
                <a:latin typeface="Calibri"/>
              </a:rPr>
              <a:t>Real-time on-device interview delivery coach for Snapdragon PCs</a:t>
            </a:r>
          </a:p>
        </p:txBody>
      </p:sp>
      <p:sp>
        <p:nvSpPr>
          <p:cNvPr id="5" name="TextBox 4"/>
          <p:cNvSpPr txBox="1"/>
          <p:nvPr/>
        </p:nvSpPr>
        <p:spPr>
          <a:xfrm>
            <a:off x="457200" y="3611880"/>
            <a:ext cx="11277295" cy="457200"/>
          </a:xfrm>
          <a:prstGeom prst="rect">
            <a:avLst/>
          </a:prstGeom>
          <a:noFill/>
        </p:spPr>
        <p:txBody>
          <a:bodyPr wrap="square" anchor="t" lIns="0" rIns="0" tIns="0" bIns="0">
            <a:spAutoFit/>
          </a:bodyPr>
          <a:lstStyle/>
          <a:p>
            <a:pPr algn="l">
              <a:spcAft>
                <a:spcPts val="800"/>
              </a:spcAft>
            </a:pPr>
            <a:r>
              <a:rPr sz="2000" b="0">
                <a:solidFill>
                  <a:srgbClr val="6B6B6B"/>
                </a:solidFill>
                <a:latin typeface="Calibri"/>
              </a:rPr>
              <a:t>Pranav Ram, IIT Gandhinagar</a:t>
            </a:r>
          </a:p>
        </p:txBody>
      </p:sp>
      <p:sp>
        <p:nvSpPr>
          <p:cNvPr id="6" name="TextBox 5"/>
          <p:cNvSpPr txBox="1"/>
          <p:nvPr/>
        </p:nvSpPr>
        <p:spPr>
          <a:xfrm>
            <a:off x="457200" y="4846320"/>
            <a:ext cx="11277295" cy="1188720"/>
          </a:xfrm>
          <a:prstGeom prst="rect">
            <a:avLst/>
          </a:prstGeom>
          <a:noFill/>
        </p:spPr>
        <p:txBody>
          <a:bodyPr wrap="square" anchor="t" lIns="0" rIns="0" tIns="0" bIns="0">
            <a:spAutoFit/>
          </a:bodyPr>
          <a:lstStyle/>
          <a:p>
            <a:pPr algn="l">
              <a:spcAft>
                <a:spcPts val="800"/>
              </a:spcAft>
            </a:pPr>
            <a:r>
              <a:rPr sz="2000" b="1">
                <a:solidFill>
                  <a:srgbClr val="1A1A1A"/>
                </a:solidFill>
                <a:latin typeface="Calibri"/>
              </a:rPr>
              <a:t>All performance numbers were measured on Snapdragon X Elite hardware through Qualcomm AI Hub.</a:t>
            </a:r>
          </a:p>
          <a:p>
            <a:pPr algn="l">
              <a:spcAft>
                <a:spcPts val="800"/>
              </a:spcAft>
            </a:pPr>
            <a:r>
              <a:rPr sz="2000" b="0">
                <a:solidFill>
                  <a:srgbClr val="1A1A1A"/>
                </a:solidFill>
                <a:latin typeface="Calibri"/>
              </a:rPr>
              <a:t>Built without a Snapdragon laptop, using Qualcomm AI Hub hosted devices for all compile, profile and benchmark jobs, with a Windows ARM64 build verified in CI.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Interviewers hear how you answer, not just what you answer. Students almost never get to practice that part.</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0"/>
            <a:ext cx="7863840" cy="3840480"/>
          </a:xfrm>
          <a:prstGeom prst="rect">
            <a:avLst/>
          </a:prstGeom>
          <a:noFill/>
        </p:spPr>
        <p:txBody>
          <a:bodyPr wrap="square" anchor="t" lIns="0" rIns="0" tIns="0" bIns="0">
            <a:spAutoFit/>
          </a:bodyPr>
          <a:lstStyle/>
          <a:p>
            <a:pPr algn="l">
              <a:spcAft>
                <a:spcPts val="800"/>
              </a:spcAft>
            </a:pPr>
            <a:r>
              <a:rPr sz="2800" b="0">
                <a:solidFill>
                  <a:srgbClr val="1A1A1A"/>
                </a:solidFill>
                <a:latin typeface="Calibri"/>
              </a:rPr>
              <a:t>Students rehearse what to say, rarely how they say it.</a:t>
            </a:r>
          </a:p>
          <a:p>
            <a:pPr algn="l">
              <a:spcAft>
                <a:spcPts val="800"/>
              </a:spcAft>
            </a:pPr>
            <a:r>
              <a:rPr sz="2800" b="0">
                <a:solidFill>
                  <a:srgbClr val="1A1A1A"/>
                </a:solidFill>
                <a:latin typeface="Calibri"/>
              </a:rPr>
              <a:t>Mock interviews happen once or twice.</a:t>
            </a:r>
          </a:p>
          <a:p>
            <a:pPr algn="l">
              <a:spcAft>
                <a:spcPts val="800"/>
              </a:spcAft>
            </a:pPr>
            <a:r>
              <a:rPr sz="2800" b="0">
                <a:solidFill>
                  <a:srgbClr val="1A1A1A"/>
                </a:solidFill>
                <a:latin typeface="Calibri"/>
              </a:rPr>
              <a:t>Watching your own recording alone is hard.</a:t>
            </a:r>
          </a:p>
          <a:p>
            <a:pPr algn="l">
              <a:spcAft>
                <a:spcPts val="800"/>
              </a:spcAft>
            </a:pPr>
            <a:r>
              <a:rPr sz="2800" b="0">
                <a:solidFill>
                  <a:srgbClr val="1A1A1A"/>
                </a:solidFill>
                <a:latin typeface="Calibri"/>
              </a:rPr>
              <a:t>Cloud coaching sends your face and voice off the device.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What it does</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Screenshot: development machine in CPU fallback mode, replay of a recorded answer.</a:t>
            </a:r>
          </a:p>
        </p:txBody>
      </p:sp>
      <p:pic>
        <p:nvPicPr>
          <p:cNvPr id="5" name="Picture 4" descr="live_view.png"/>
          <p:cNvPicPr>
            <a:picLocks noChangeAspect="1"/>
          </p:cNvPicPr>
          <p:nvPr/>
        </p:nvPicPr>
        <p:blipFill>
          <a:blip r:embed="rId3"/>
          <a:stretch>
            <a:fillRect/>
          </a:stretch>
        </p:blipFill>
        <p:spPr>
          <a:xfrm>
            <a:off x="2681935" y="1280160"/>
            <a:ext cx="9052560" cy="5092065"/>
          </a:xfrm>
          <a:prstGeom prst="rect">
            <a:avLst/>
          </a:prstGeom>
          <a:ln w="9525">
            <a:solidFill>
              <a:srgbClr val="BFBFBF"/>
            </a:solidFill>
          </a:ln>
        </p:spPr>
      </p:pic>
      <p:sp>
        <p:nvSpPr>
          <p:cNvPr id="6" name="TextBox 5"/>
          <p:cNvSpPr txBox="1"/>
          <p:nvPr/>
        </p:nvSpPr>
        <p:spPr>
          <a:xfrm>
            <a:off x="457200" y="1737360"/>
            <a:ext cx="1996135" cy="420624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Four live indicators while you answer:</a:t>
            </a:r>
          </a:p>
          <a:p>
            <a:pPr algn="l">
              <a:spcAft>
                <a:spcPts val="800"/>
              </a:spcAft>
            </a:pPr>
            <a:r>
              <a:rPr sz="2000" b="0">
                <a:solidFill>
                  <a:srgbClr val="1A1A1A"/>
                </a:solidFill>
                <a:latin typeface="Calibri"/>
              </a:rPr>
              <a:t>facing the camera, posture, words per minute, fillers.</a:t>
            </a:r>
          </a:p>
          <a:p>
            <a:pPr algn="l">
              <a:spcAft>
                <a:spcPts val="800"/>
              </a:spcAft>
            </a:pPr>
            <a:r>
              <a:rPr sz="2000" b="0">
                <a:solidFill>
                  <a:srgbClr val="1A1A1A"/>
                </a:solidFill>
                <a:latin typeface="Calibri"/>
              </a:rPr>
              <a:t>Everything runs on the laptop.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The report</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Screenshot: development machine in CPU fallback mode, replay of a recorded answer. Window length: app/config.py ReportConfig.window_s = 10 s.</a:t>
            </a:r>
          </a:p>
        </p:txBody>
      </p:sp>
      <p:pic>
        <p:nvPicPr>
          <p:cNvPr id="5" name="Picture 4" descr="report.png"/>
          <p:cNvPicPr>
            <a:picLocks noChangeAspect="1"/>
          </p:cNvPicPr>
          <p:nvPr/>
        </p:nvPicPr>
        <p:blipFill>
          <a:blip r:embed="rId3"/>
          <a:stretch>
            <a:fillRect/>
          </a:stretch>
        </p:blipFill>
        <p:spPr>
          <a:xfrm>
            <a:off x="2681935" y="1280160"/>
            <a:ext cx="9052560" cy="5092065"/>
          </a:xfrm>
          <a:prstGeom prst="rect">
            <a:avLst/>
          </a:prstGeom>
          <a:ln w="9525">
            <a:solidFill>
              <a:srgbClr val="BFBFBF"/>
            </a:solidFill>
          </a:ln>
        </p:spPr>
      </p:pic>
      <p:sp>
        <p:nvSpPr>
          <p:cNvPr id="6" name="TextBox 5"/>
          <p:cNvSpPr txBox="1"/>
          <p:nvPr/>
        </p:nvSpPr>
        <p:spPr>
          <a:xfrm>
            <a:off x="457200" y="1737360"/>
            <a:ext cx="1996135" cy="420624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Each metric per 10 s window.</a:t>
            </a:r>
          </a:p>
          <a:p>
            <a:pPr algn="l">
              <a:spcAft>
                <a:spcPts val="800"/>
              </a:spcAft>
            </a:pPr>
            <a:r>
              <a:rPr sz="2000" b="0">
                <a:solidFill>
                  <a:srgbClr val="1A1A1A"/>
                </a:solidFill>
                <a:latin typeface="Calibri"/>
              </a:rPr>
              <a:t>Transcript with fillers and pauses marked.</a:t>
            </a:r>
          </a:p>
          <a:p>
            <a:pPr algn="l">
              <a:spcAft>
                <a:spcPts val="800"/>
              </a:spcAft>
            </a:pPr>
            <a:r>
              <a:rPr sz="2000" b="0">
                <a:solidFill>
                  <a:srgbClr val="1A1A1A"/>
                </a:solidFill>
                <a:latin typeface="Calibri"/>
              </a:rPr>
              <a:t>Three things to work on.</a:t>
            </a:r>
          </a:p>
          <a:p>
            <a:pPr algn="l">
              <a:spcAft>
                <a:spcPts val="800"/>
              </a:spcAft>
            </a:pPr>
            <a:r>
              <a:rPr sz="2000" b="0">
                <a:solidFill>
                  <a:srgbClr val="1A1A1A"/>
                </a:solidFill>
                <a:latin typeface="Calibri"/>
              </a:rPr>
              <a:t>History tracks the trend.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Why the NPU</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Source: AI Hub hosted Snapdragon X Elite, onnx float32 whisper_tiny encoder, jobs j57eeo9rp (CPU), jp4yye3lp (GPU), jpxll0x9p (NPU). Ratio Derived: CPU p50 / NPU p50.</a:t>
            </a:r>
          </a:p>
        </p:txBody>
      </p:sp>
      <p:sp>
        <p:nvSpPr>
          <p:cNvPr id="5" name="TextBox 4"/>
          <p:cNvSpPr txBox="1"/>
          <p:nvPr/>
        </p:nvSpPr>
        <p:spPr>
          <a:xfrm>
            <a:off x="457200" y="1783080"/>
            <a:ext cx="4023360" cy="914400"/>
          </a:xfrm>
          <a:prstGeom prst="rect">
            <a:avLst/>
          </a:prstGeom>
          <a:noFill/>
        </p:spPr>
        <p:txBody>
          <a:bodyPr wrap="square" anchor="t" lIns="0" rIns="0" tIns="0" bIns="0">
            <a:spAutoFit/>
          </a:bodyPr>
          <a:lstStyle/>
          <a:p>
            <a:pPr algn="l">
              <a:spcAft>
                <a:spcPts val="800"/>
              </a:spcAft>
            </a:pPr>
            <a:r>
              <a:rPr sz="6000" b="1">
                <a:solidFill>
                  <a:srgbClr val="D6001C"/>
                </a:solidFill>
                <a:latin typeface="Calibri"/>
              </a:rPr>
              <a:t>61.77x</a:t>
            </a:r>
          </a:p>
        </p:txBody>
      </p:sp>
      <p:sp>
        <p:nvSpPr>
          <p:cNvPr id="6" name="TextBox 5"/>
          <p:cNvSpPr txBox="1"/>
          <p:nvPr/>
        </p:nvSpPr>
        <p:spPr>
          <a:xfrm>
            <a:off x="457200" y="2743200"/>
            <a:ext cx="4023360" cy="73152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CPU p50 / NPU p50, same whisper_tiny encoder</a:t>
            </a:r>
          </a:p>
        </p:txBody>
      </p:sp>
      <p:sp>
        <p:nvSpPr>
          <p:cNvPr id="7" name="TextBox 6"/>
          <p:cNvSpPr txBox="1"/>
          <p:nvPr/>
        </p:nvSpPr>
        <p:spPr>
          <a:xfrm>
            <a:off x="457200" y="3611880"/>
            <a:ext cx="4023360" cy="228600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Vision runs every frame while speech recognition runs per segment.</a:t>
            </a:r>
          </a:p>
          <a:p>
            <a:pPr algn="l">
              <a:spcAft>
                <a:spcPts val="800"/>
              </a:spcAft>
            </a:pPr>
            <a:r>
              <a:rPr sz="2000" b="0">
                <a:solidFill>
                  <a:srgbClr val="1A1A1A"/>
                </a:solidFill>
                <a:latin typeface="Calibri"/>
              </a:rPr>
              <a:t>Video and audio stay on the laptop, and it works offline.</a:t>
            </a:r>
          </a:p>
        </p:txBody>
      </p:sp>
      <p:graphicFrame>
        <p:nvGraphicFramePr>
          <p:cNvPr id="8" name="Chart 7"/>
          <p:cNvGraphicFramePr>
            <a:graphicFrameLocks noGrp="1"/>
          </p:cNvGraphicFramePr>
          <p:nvPr/>
        </p:nvGraphicFramePr>
        <p:xfrm>
          <a:off x="4846320" y="1691640"/>
          <a:ext cx="6885432" cy="4297680"/>
        </p:xfrm>
        <a:graphic>
          <a:graphicData uri="http://schemas.openxmlformats.org/drawingml/2006/chart">
            <c:chart xmlns:c="http://schemas.openxmlformats.org/drawingml/2006/chart" r:id="rId3"/>
          </a:graphicData>
        </a:graphic>
      </p:graphicFrame>
      <p:sp>
        <p:nvSpPr>
          <p:cNvPr id="9" name="TextBox 8"/>
          <p:cNvSpPr txBox="1"/>
          <p:nvPr/>
        </p:nvSpPr>
        <p:spPr>
          <a:xfrm>
            <a:off x="4846320" y="5989320"/>
            <a:ext cx="6885432" cy="320040"/>
          </a:xfrm>
          <a:prstGeom prst="rect">
            <a:avLst/>
          </a:prstGeom>
          <a:noFill/>
        </p:spPr>
        <p:txBody>
          <a:bodyPr wrap="square" anchor="t" lIns="0" rIns="0" tIns="0" bIns="0">
            <a:spAutoFit/>
          </a:bodyPr>
          <a:lstStyle/>
          <a:p>
            <a:pPr algn="r">
              <a:spcAft>
                <a:spcPts val="800"/>
              </a:spcAft>
            </a:pPr>
            <a:r>
              <a:rPr sz="1400" b="0">
                <a:solidFill>
                  <a:srgbClr val="6B6B6B"/>
                </a:solidFill>
                <a:latin typeface="Calibri"/>
              </a:rPr>
              <a:t>Encoder p50 in ms, log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Architecture</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Source: app/config.py (camera 30 fps, pose 15 fps, audio 16 kHz), docs/architecture.md.</a:t>
            </a:r>
          </a:p>
        </p:txBody>
      </p:sp>
      <p:sp>
        <p:nvSpPr>
          <p:cNvPr id="5" name="Rectangle 4"/>
          <p:cNvSpPr/>
          <p:nvPr/>
        </p:nvSpPr>
        <p:spPr>
          <a:xfrm>
            <a:off x="457200" y="17830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Camera</a:t>
            </a:r>
          </a:p>
          <a:p>
            <a:pPr algn="ctr"/>
            <a:r>
              <a:rPr sz="1400" b="0">
                <a:solidFill>
                  <a:srgbClr val="6B6B6B"/>
                </a:solidFill>
                <a:latin typeface="Calibri"/>
              </a:rPr>
              <a:t>30 fps</a:t>
            </a:r>
          </a:p>
        </p:txBody>
      </p:sp>
      <p:sp>
        <p:nvSpPr>
          <p:cNvPr id="6" name="Rectangle 5"/>
          <p:cNvSpPr/>
          <p:nvPr/>
        </p:nvSpPr>
        <p:spPr>
          <a:xfrm>
            <a:off x="2926080" y="1783080"/>
            <a:ext cx="2011680" cy="960120"/>
          </a:xfrm>
          <a:prstGeom prst="rect">
            <a:avLst/>
          </a:prstGeom>
          <a:solidFill>
            <a:srgbClr val="FFFFFF"/>
          </a:solidFill>
          <a:ln w="28575">
            <a:solidFill>
              <a:srgbClr val="D6001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Face detector</a:t>
            </a:r>
          </a:p>
          <a:p>
            <a:pPr algn="ctr"/>
            <a:r>
              <a:rPr sz="1400" b="1">
                <a:solidFill>
                  <a:srgbClr val="D6001C"/>
                </a:solidFill>
                <a:latin typeface="Calibri"/>
              </a:rPr>
              <a:t>NPU, on track loss</a:t>
            </a:r>
          </a:p>
        </p:txBody>
      </p:sp>
      <p:sp>
        <p:nvSpPr>
          <p:cNvPr id="7" name="Rectangle 6"/>
          <p:cNvSpPr/>
          <p:nvPr/>
        </p:nvSpPr>
        <p:spPr>
          <a:xfrm>
            <a:off x="5394960" y="1783080"/>
            <a:ext cx="2011680" cy="960120"/>
          </a:xfrm>
          <a:prstGeom prst="rect">
            <a:avLst/>
          </a:prstGeom>
          <a:solidFill>
            <a:srgbClr val="FFFFFF"/>
          </a:solidFill>
          <a:ln w="28575">
            <a:solidFill>
              <a:srgbClr val="D6001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Face landmarks</a:t>
            </a:r>
          </a:p>
          <a:p>
            <a:pPr algn="ctr"/>
            <a:r>
              <a:rPr sz="1400" b="1">
                <a:solidFill>
                  <a:srgbClr val="D6001C"/>
                </a:solidFill>
                <a:latin typeface="Calibri"/>
              </a:rPr>
              <a:t>NPU, every frame</a:t>
            </a:r>
          </a:p>
        </p:txBody>
      </p:sp>
      <p:sp>
        <p:nvSpPr>
          <p:cNvPr id="8" name="Rectangle 7"/>
          <p:cNvSpPr/>
          <p:nvPr/>
        </p:nvSpPr>
        <p:spPr>
          <a:xfrm>
            <a:off x="7863840" y="17830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Head pose, facing</a:t>
            </a:r>
          </a:p>
          <a:p>
            <a:pPr algn="ctr"/>
            <a:r>
              <a:rPr sz="1400" b="0">
                <a:solidFill>
                  <a:srgbClr val="6B6B6B"/>
                </a:solidFill>
                <a:latin typeface="Calibri"/>
              </a:rPr>
              <a:t>CPU</a:t>
            </a:r>
          </a:p>
        </p:txBody>
      </p:sp>
      <p:sp>
        <p:nvSpPr>
          <p:cNvPr id="9" name="Rectangle 8"/>
          <p:cNvSpPr/>
          <p:nvPr/>
        </p:nvSpPr>
        <p:spPr>
          <a:xfrm>
            <a:off x="457200" y="31546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Camera</a:t>
            </a:r>
          </a:p>
          <a:p>
            <a:pPr algn="ctr"/>
            <a:r>
              <a:rPr sz="1400" b="0">
                <a:solidFill>
                  <a:srgbClr val="6B6B6B"/>
                </a:solidFill>
                <a:latin typeface="Calibri"/>
              </a:rPr>
              <a:t>30 fps</a:t>
            </a:r>
          </a:p>
        </p:txBody>
      </p:sp>
      <p:sp>
        <p:nvSpPr>
          <p:cNvPr id="10" name="Rectangle 9"/>
          <p:cNvSpPr/>
          <p:nvPr/>
        </p:nvSpPr>
        <p:spPr>
          <a:xfrm>
            <a:off x="2926080" y="3154680"/>
            <a:ext cx="4480560" cy="960120"/>
          </a:xfrm>
          <a:prstGeom prst="rect">
            <a:avLst/>
          </a:prstGeom>
          <a:solidFill>
            <a:srgbClr val="FFFFFF"/>
          </a:solidFill>
          <a:ln w="28575">
            <a:solidFill>
              <a:srgbClr val="D6001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Pose detector and landmarks</a:t>
            </a:r>
          </a:p>
          <a:p>
            <a:pPr algn="ctr"/>
            <a:r>
              <a:rPr sz="1400" b="1">
                <a:solidFill>
                  <a:srgbClr val="D6001C"/>
                </a:solidFill>
                <a:latin typeface="Calibri"/>
              </a:rPr>
              <a:t>NPU, 15 fps</a:t>
            </a:r>
          </a:p>
        </p:txBody>
      </p:sp>
      <p:sp>
        <p:nvSpPr>
          <p:cNvPr id="11" name="Rectangle 10"/>
          <p:cNvSpPr/>
          <p:nvPr/>
        </p:nvSpPr>
        <p:spPr>
          <a:xfrm>
            <a:off x="7863840" y="31546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Posture</a:t>
            </a:r>
          </a:p>
          <a:p>
            <a:pPr algn="ctr"/>
            <a:r>
              <a:rPr sz="1400" b="0">
                <a:solidFill>
                  <a:srgbClr val="6B6B6B"/>
                </a:solidFill>
                <a:latin typeface="Calibri"/>
              </a:rPr>
              <a:t>CPU</a:t>
            </a:r>
          </a:p>
        </p:txBody>
      </p:sp>
      <p:sp>
        <p:nvSpPr>
          <p:cNvPr id="12" name="Rectangle 11"/>
          <p:cNvSpPr/>
          <p:nvPr/>
        </p:nvSpPr>
        <p:spPr>
          <a:xfrm>
            <a:off x="457200" y="45262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Microphone</a:t>
            </a:r>
          </a:p>
          <a:p>
            <a:pPr algn="ctr"/>
            <a:r>
              <a:rPr sz="1400" b="0">
                <a:solidFill>
                  <a:srgbClr val="6B6B6B"/>
                </a:solidFill>
                <a:latin typeface="Calibri"/>
              </a:rPr>
              <a:t>16 kHz</a:t>
            </a:r>
          </a:p>
        </p:txBody>
      </p:sp>
      <p:sp>
        <p:nvSpPr>
          <p:cNvPr id="13" name="Rectangle 12"/>
          <p:cNvSpPr/>
          <p:nvPr/>
        </p:nvSpPr>
        <p:spPr>
          <a:xfrm>
            <a:off x="2926080" y="45262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Silero VAD</a:t>
            </a:r>
          </a:p>
          <a:p>
            <a:pPr algn="ctr"/>
            <a:r>
              <a:rPr sz="1400" b="0">
                <a:solidFill>
                  <a:srgbClr val="6B6B6B"/>
                </a:solidFill>
                <a:latin typeface="Calibri"/>
              </a:rPr>
              <a:t>CPU</a:t>
            </a:r>
          </a:p>
        </p:txBody>
      </p:sp>
      <p:sp>
        <p:nvSpPr>
          <p:cNvPr id="14" name="Rectangle 13"/>
          <p:cNvSpPr/>
          <p:nvPr/>
        </p:nvSpPr>
        <p:spPr>
          <a:xfrm>
            <a:off x="5394960" y="4526280"/>
            <a:ext cx="2011680" cy="960120"/>
          </a:xfrm>
          <a:prstGeom prst="rect">
            <a:avLst/>
          </a:prstGeom>
          <a:solidFill>
            <a:srgbClr val="FFFFFF"/>
          </a:solidFill>
          <a:ln w="28575">
            <a:solidFill>
              <a:srgbClr val="D6001C"/>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Whisper tiny</a:t>
            </a:r>
          </a:p>
          <a:p>
            <a:pPr algn="ctr"/>
            <a:r>
              <a:rPr sz="1400" b="1">
                <a:solidFill>
                  <a:srgbClr val="D6001C"/>
                </a:solidFill>
                <a:latin typeface="Calibri"/>
              </a:rPr>
              <a:t>NPU, per segment</a:t>
            </a:r>
          </a:p>
        </p:txBody>
      </p:sp>
      <p:sp>
        <p:nvSpPr>
          <p:cNvPr id="15" name="Rectangle 14"/>
          <p:cNvSpPr/>
          <p:nvPr/>
        </p:nvSpPr>
        <p:spPr>
          <a:xfrm>
            <a:off x="7863840" y="4526280"/>
            <a:ext cx="2011680" cy="9601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Pace, fillers, pauses</a:t>
            </a:r>
          </a:p>
          <a:p>
            <a:pPr algn="ctr"/>
            <a:r>
              <a:rPr sz="1400" b="0">
                <a:solidFill>
                  <a:srgbClr val="6B6B6B"/>
                </a:solidFill>
                <a:latin typeface="Calibri"/>
              </a:rPr>
              <a:t>CPU</a:t>
            </a:r>
          </a:p>
        </p:txBody>
      </p:sp>
      <p:sp>
        <p:nvSpPr>
          <p:cNvPr id="16" name="Rectangle 15"/>
          <p:cNvSpPr/>
          <p:nvPr/>
        </p:nvSpPr>
        <p:spPr>
          <a:xfrm>
            <a:off x="10332720" y="1783080"/>
            <a:ext cx="1401775" cy="3703320"/>
          </a:xfrm>
          <a:prstGeom prst="rect">
            <a:avLst/>
          </a:prstGeom>
          <a:solidFill>
            <a:srgbClr val="FFFFFF"/>
          </a:solidFill>
          <a:ln w="15875">
            <a:solidFill>
              <a:srgbClr val="6B6B6B"/>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1A1A1A"/>
                </a:solidFill>
                <a:latin typeface="Calibri"/>
              </a:rPr>
              <a:t>Live indicators, report, history</a:t>
            </a:r>
          </a:p>
          <a:p>
            <a:pPr algn="ctr"/>
            <a:r>
              <a:rPr sz="1400" b="0">
                <a:solidFill>
                  <a:srgbClr val="6B6B6B"/>
                </a:solidFill>
                <a:latin typeface="Calibri"/>
              </a:rPr>
              <a:t>Browser on localhost</a:t>
            </a:r>
          </a:p>
        </p:txBody>
      </p:sp>
      <p:cxnSp>
        <p:nvCxnSpPr>
          <p:cNvPr id="17" name="Connector 16"/>
          <p:cNvCxnSpPr/>
          <p:nvPr/>
        </p:nvCxnSpPr>
        <p:spPr>
          <a:xfrm>
            <a:off x="2468880" y="22631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37760" y="22631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406640" y="22631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468880" y="50063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937760" y="50063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06640" y="50063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468880" y="36347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06640" y="36347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75520" y="22631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875520" y="36347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75520" y="5006340"/>
            <a:ext cx="457200" cy="0"/>
          </a:xfrm>
          <a:prstGeom prst="line">
            <a:avLst/>
          </a:prstGeom>
          <a:ln w="19050">
            <a:solidFill>
              <a:srgbClr val="6B6B6B"/>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5715000"/>
            <a:ext cx="11277295" cy="365760"/>
          </a:xfrm>
          <a:prstGeom prst="rect">
            <a:avLst/>
          </a:prstGeom>
          <a:noFill/>
        </p:spPr>
        <p:txBody>
          <a:bodyPr wrap="square" anchor="t" lIns="0" rIns="0" tIns="0" bIns="0">
            <a:spAutoFit/>
          </a:bodyPr>
          <a:lstStyle/>
          <a:p>
            <a:pPr algn="l">
              <a:spcAft>
                <a:spcPts val="800"/>
              </a:spcAft>
            </a:pPr>
            <a:r>
              <a:rPr sz="2000" b="0">
                <a:solidFill>
                  <a:srgbClr val="6B6B6B"/>
                </a:solidFill>
                <a:latin typeface="Calibri"/>
              </a:rPr>
              <a:t>Planned placement. Not yet validated on device.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Performance on Snapdragon X Elite</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Source: AI Hub hosted Snapdragon X Elite, benchmarks/TABLE.md. Budgets Derived, benchmarks/raw/budgets_derived.json.</a:t>
            </a:r>
          </a:p>
        </p:txBody>
      </p:sp>
      <p:graphicFrame>
        <p:nvGraphicFramePr>
          <p:cNvPr id="5" name="Table 4"/>
          <p:cNvGraphicFramePr>
            <a:graphicFrameLocks noGrp="1"/>
          </p:cNvGraphicFramePr>
          <p:nvPr/>
        </p:nvGraphicFramePr>
        <p:xfrm>
          <a:off x="457200" y="1783080"/>
          <a:ext cx="6492239" cy="3712464"/>
        </p:xfrm>
        <a:graphic>
          <a:graphicData uri="http://schemas.openxmlformats.org/drawingml/2006/table">
            <a:tbl>
              <a:tblPr firstRow="1" bandRow="1">
                <a:tableStyleId>{2D5ABB26-0587-4C30-8999-92F81FD0307C}</a:tableStyleId>
              </a:tblPr>
              <a:tblGrid>
                <a:gridCol w="3749039"/>
                <a:gridCol w="1371600"/>
                <a:gridCol w="1371600"/>
              </a:tblGrid>
              <a:tr h="530352">
                <a:tc>
                  <a:txBody>
                    <a:bodyPr wrap="square"/>
                    <a:lstStyle/>
                    <a:p>
                      <a:r>
                        <a:rPr sz="2000" b="1">
                          <a:solidFill>
                            <a:srgbClr val="1A1A1A"/>
                          </a:solidFill>
                          <a:latin typeface="Calibri"/>
                        </a:rPr>
                        <a:t>Model (shipping)</a:t>
                      </a:r>
                    </a:p>
                  </a:txBody>
                  <a:tcPr marL="73152" marR="73152" anchor="ctr">
                    <a:lnB w="9525">
                      <a:solidFill>
                        <a:srgbClr val="BFBFBF"/>
                      </a:solidFill>
                    </a:lnB>
                    <a:solidFill>
                      <a:srgbClr val="F2F2F2"/>
                    </a:solidFill>
                  </a:tcPr>
                </a:tc>
                <a:tc>
                  <a:txBody>
                    <a:bodyPr wrap="square"/>
                    <a:lstStyle/>
                    <a:p>
                      <a:r>
                        <a:rPr sz="2000" b="1">
                          <a:solidFill>
                            <a:srgbClr val="1A1A1A"/>
                          </a:solidFill>
                          <a:latin typeface="Calibri"/>
                        </a:rPr>
                        <a:t>p50 ms</a:t>
                      </a:r>
                    </a:p>
                  </a:txBody>
                  <a:tcPr marL="73152" marR="73152" anchor="ctr">
                    <a:lnB w="9525">
                      <a:solidFill>
                        <a:srgbClr val="BFBFBF"/>
                      </a:solidFill>
                    </a:lnB>
                    <a:solidFill>
                      <a:srgbClr val="F2F2F2"/>
                    </a:solidFill>
                  </a:tcPr>
                </a:tc>
                <a:tc>
                  <a:txBody>
                    <a:bodyPr wrap="square"/>
                    <a:lstStyle/>
                    <a:p>
                      <a:r>
                        <a:rPr sz="2000" b="1">
                          <a:solidFill>
                            <a:srgbClr val="1A1A1A"/>
                          </a:solidFill>
                          <a:latin typeface="Calibri"/>
                        </a:rPr>
                        <a:t>p95 ms</a:t>
                      </a:r>
                    </a:p>
                  </a:txBody>
                  <a:tcPr marL="73152" marR="73152" anchor="ctr">
                    <a:lnB w="9525">
                      <a:solidFill>
                        <a:srgbClr val="BFBFBF"/>
                      </a:solidFill>
                    </a:lnB>
                    <a:solidFill>
                      <a:srgbClr val="F2F2F2"/>
                    </a:solidFill>
                  </a:tcPr>
                </a:tc>
              </a:tr>
              <a:tr h="530352">
                <a:tc>
                  <a:txBody>
                    <a:bodyPr wrap="square"/>
                    <a:lstStyle/>
                    <a:p>
                      <a:r>
                        <a:rPr sz="2000" b="0">
                          <a:solidFill>
                            <a:srgbClr val="1A1A1A"/>
                          </a:solidFill>
                          <a:latin typeface="Calibri"/>
                        </a:rPr>
                        <a:t>Whisper tiny encoder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23.739</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24.641</a:t>
                      </a:r>
                    </a:p>
                  </a:txBody>
                  <a:tcPr marL="73152" marR="73152" anchor="ctr">
                    <a:lnB w="9525">
                      <a:solidFill>
                        <a:srgbClr val="BFBFBF"/>
                      </a:solidFill>
                    </a:lnB>
                    <a:solidFill>
                      <a:srgbClr val="FFFFFF"/>
                    </a:solidFill>
                  </a:tcPr>
                </a:tc>
              </a:tr>
              <a:tr h="530352">
                <a:tc>
                  <a:txBody>
                    <a:bodyPr wrap="square"/>
                    <a:lstStyle/>
                    <a:p>
                      <a:r>
                        <a:rPr sz="2000" b="0">
                          <a:solidFill>
                            <a:srgbClr val="1A1A1A"/>
                          </a:solidFill>
                          <a:latin typeface="Calibri"/>
                        </a:rPr>
                        <a:t>Whisper tiny decoder, one call</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2.375</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2.888</a:t>
                      </a:r>
                    </a:p>
                  </a:txBody>
                  <a:tcPr marL="73152" marR="73152" anchor="ctr">
                    <a:lnB w="9525">
                      <a:solidFill>
                        <a:srgbClr val="BFBFBF"/>
                      </a:solidFill>
                    </a:lnB>
                    <a:solidFill>
                      <a:srgbClr val="FFFFFF"/>
                    </a:solidFill>
                  </a:tcPr>
                </a:tc>
              </a:tr>
              <a:tr h="530352">
                <a:tc>
                  <a:txBody>
                    <a:bodyPr wrap="square"/>
                    <a:lstStyle/>
                    <a:p>
                      <a:r>
                        <a:rPr sz="2000" b="0">
                          <a:solidFill>
                            <a:srgbClr val="1A1A1A"/>
                          </a:solidFill>
                          <a:latin typeface="Calibri"/>
                        </a:rPr>
                        <a:t>Face detector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0.579</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0.650</a:t>
                      </a:r>
                    </a:p>
                  </a:txBody>
                  <a:tcPr marL="73152" marR="73152" anchor="ctr">
                    <a:lnB w="9525">
                      <a:solidFill>
                        <a:srgbClr val="BFBFBF"/>
                      </a:solidFill>
                    </a:lnB>
                    <a:solidFill>
                      <a:srgbClr val="FFFFFF"/>
                    </a:solidFill>
                  </a:tcPr>
                </a:tc>
              </a:tr>
              <a:tr h="530352">
                <a:tc>
                  <a:txBody>
                    <a:bodyPr wrap="square"/>
                    <a:lstStyle/>
                    <a:p>
                      <a:r>
                        <a:rPr sz="2000" b="0">
                          <a:solidFill>
                            <a:srgbClr val="1A1A1A"/>
                          </a:solidFill>
                          <a:latin typeface="Calibri"/>
                        </a:rPr>
                        <a:t>Face landmark</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0.184</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0.225</a:t>
                      </a:r>
                    </a:p>
                  </a:txBody>
                  <a:tcPr marL="73152" marR="73152" anchor="ctr">
                    <a:lnB w="9525">
                      <a:solidFill>
                        <a:srgbClr val="BFBFBF"/>
                      </a:solidFill>
                    </a:lnB>
                    <a:solidFill>
                      <a:srgbClr val="FFFFFF"/>
                    </a:solidFill>
                  </a:tcPr>
                </a:tc>
              </a:tr>
              <a:tr h="530352">
                <a:tc>
                  <a:txBody>
                    <a:bodyPr wrap="square"/>
                    <a:lstStyle/>
                    <a:p>
                      <a:r>
                        <a:rPr sz="2000" b="0">
                          <a:solidFill>
                            <a:srgbClr val="1A1A1A"/>
                          </a:solidFill>
                          <a:latin typeface="Calibri"/>
                        </a:rPr>
                        <a:t>Pose detector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0.899</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0.933</a:t>
                      </a:r>
                    </a:p>
                  </a:txBody>
                  <a:tcPr marL="73152" marR="73152" anchor="ctr">
                    <a:lnB w="9525">
                      <a:solidFill>
                        <a:srgbClr val="BFBFBF"/>
                      </a:solidFill>
                    </a:lnB>
                    <a:solidFill>
                      <a:srgbClr val="FFFFFF"/>
                    </a:solidFill>
                  </a:tcPr>
                </a:tc>
              </a:tr>
              <a:tr h="530352">
                <a:tc>
                  <a:txBody>
                    <a:bodyPr wrap="square"/>
                    <a:lstStyle/>
                    <a:p>
                      <a:r>
                        <a:rPr sz="2000" b="0">
                          <a:solidFill>
                            <a:srgbClr val="1A1A1A"/>
                          </a:solidFill>
                          <a:latin typeface="Calibri"/>
                        </a:rPr>
                        <a:t>Pose landmark</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0.837</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0.916</a:t>
                      </a:r>
                    </a:p>
                  </a:txBody>
                  <a:tcPr marL="73152" marR="73152" anchor="ctr">
                    <a:lnB w="9525">
                      <a:solidFill>
                        <a:srgbClr val="BFBFBF"/>
                      </a:solidFill>
                    </a:lnB>
                    <a:solidFill>
                      <a:srgbClr val="FFFFFF"/>
                    </a:solidFill>
                  </a:tcPr>
                </a:tc>
              </a:tr>
            </a:tbl>
          </a:graphicData>
        </a:graphic>
      </p:graphicFrame>
      <p:sp>
        <p:nvSpPr>
          <p:cNvPr id="6" name="TextBox 5"/>
          <p:cNvSpPr txBox="1"/>
          <p:nvPr/>
        </p:nvSpPr>
        <p:spPr>
          <a:xfrm>
            <a:off x="7589520" y="1783080"/>
            <a:ext cx="4114800" cy="914400"/>
          </a:xfrm>
          <a:prstGeom prst="rect">
            <a:avLst/>
          </a:prstGeom>
          <a:noFill/>
        </p:spPr>
        <p:txBody>
          <a:bodyPr wrap="square" anchor="t" lIns="0" rIns="0" tIns="0" bIns="0">
            <a:spAutoFit/>
          </a:bodyPr>
          <a:lstStyle/>
          <a:p>
            <a:pPr algn="l">
              <a:spcAft>
                <a:spcPts val="800"/>
              </a:spcAft>
            </a:pPr>
            <a:r>
              <a:rPr sz="6000" b="1">
                <a:solidFill>
                  <a:srgbClr val="D6001C"/>
                </a:solidFill>
                <a:latin typeface="Calibri"/>
              </a:rPr>
              <a:t>1.81 %</a:t>
            </a:r>
          </a:p>
        </p:txBody>
      </p:sp>
      <p:sp>
        <p:nvSpPr>
          <p:cNvPr id="7" name="TextBox 6"/>
          <p:cNvSpPr txBox="1"/>
          <p:nvPr/>
        </p:nvSpPr>
        <p:spPr>
          <a:xfrm>
            <a:off x="7589520" y="2743200"/>
            <a:ext cx="4114800" cy="73152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of the 33.3 ms frame for vision on the NPU (0.603 ms)</a:t>
            </a:r>
          </a:p>
        </p:txBody>
      </p:sp>
      <p:sp>
        <p:nvSpPr>
          <p:cNvPr id="8" name="TextBox 7"/>
          <p:cNvSpPr txBox="1"/>
          <p:nvPr/>
        </p:nvSpPr>
        <p:spPr>
          <a:xfrm>
            <a:off x="7589520" y="3977639"/>
            <a:ext cx="4114800" cy="1463040"/>
          </a:xfrm>
          <a:prstGeom prst="rect">
            <a:avLst/>
          </a:prstGeom>
          <a:noFill/>
        </p:spPr>
        <p:txBody>
          <a:bodyPr wrap="square" anchor="t" lIns="0" rIns="0" tIns="0" bIns="0">
            <a:spAutoFit/>
          </a:bodyPr>
          <a:lstStyle/>
          <a:p>
            <a:pPr algn="l">
              <a:spcAft>
                <a:spcPts val="200"/>
              </a:spcAft>
            </a:pPr>
            <a:r>
              <a:rPr sz="2000" b="1">
                <a:solidFill>
                  <a:srgbClr val="1A1A1A"/>
                </a:solidFill>
                <a:latin typeface="Calibri"/>
              </a:rPr>
              <a:t>Speech per segment</a:t>
            </a:r>
          </a:p>
          <a:p>
            <a:pPr algn="l">
              <a:spcAft>
                <a:spcPts val="800"/>
              </a:spcAft>
            </a:pPr>
            <a:r>
              <a:rPr sz="2000" b="0">
                <a:solidFill>
                  <a:srgbClr val="1A1A1A"/>
                </a:solidFill>
                <a:latin typeface="Calibri"/>
              </a:rPr>
              <a:t>23.739 + n x 2.375 ms</a:t>
            </a:r>
          </a:p>
          <a:p>
            <a:pPr algn="l">
              <a:spcAft>
                <a:spcPts val="800"/>
              </a:spcAft>
            </a:pPr>
            <a:r>
              <a:rPr sz="2000" b="0">
                <a:solidFill>
                  <a:srgbClr val="6B6B6B"/>
                </a:solidFill>
                <a:latin typeface="Calibri"/>
              </a:rPr>
              <a:t>n = decoder calls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Optimization: runtime format and storage precision</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Source: AI Hub hosted Snapdragon X Elite, benchmarks/optimization.md, benchmarks/raw/day3_derived.json and day3_decoder_io_bytes.json (Derived).</a:t>
            </a:r>
          </a:p>
        </p:txBody>
      </p:sp>
      <p:graphicFrame>
        <p:nvGraphicFramePr>
          <p:cNvPr id="5" name="Table 4"/>
          <p:cNvGraphicFramePr>
            <a:graphicFrameLocks noGrp="1"/>
          </p:cNvGraphicFramePr>
          <p:nvPr/>
        </p:nvGraphicFramePr>
        <p:xfrm>
          <a:off x="457200" y="1783080"/>
          <a:ext cx="6217920" cy="2834640"/>
        </p:xfrm>
        <a:graphic>
          <a:graphicData uri="http://schemas.openxmlformats.org/drawingml/2006/table">
            <a:tbl>
              <a:tblPr firstRow="1" bandRow="1">
                <a:tableStyleId>{2D5ABB26-0587-4C30-8999-92F81FD0307C}</a:tableStyleId>
              </a:tblPr>
              <a:tblGrid>
                <a:gridCol w="2651760"/>
                <a:gridCol w="1645920"/>
                <a:gridCol w="1920240"/>
              </a:tblGrid>
              <a:tr h="566928">
                <a:tc>
                  <a:txBody>
                    <a:bodyPr wrap="square"/>
                    <a:lstStyle/>
                    <a:p>
                      <a:r>
                        <a:rPr sz="2000" b="1">
                          <a:solidFill>
                            <a:srgbClr val="1A1A1A"/>
                          </a:solidFill>
                          <a:latin typeface="Calibri"/>
                        </a:rPr>
                        <a:t>p50 ms</a:t>
                      </a:r>
                    </a:p>
                  </a:txBody>
                  <a:tcPr marL="73152" marR="73152" anchor="ctr">
                    <a:lnB w="9525">
                      <a:solidFill>
                        <a:srgbClr val="BFBFBF"/>
                      </a:solidFill>
                    </a:lnB>
                    <a:solidFill>
                      <a:srgbClr val="F2F2F2"/>
                    </a:solidFill>
                  </a:tcPr>
                </a:tc>
                <a:tc>
                  <a:txBody>
                    <a:bodyPr wrap="square"/>
                    <a:lstStyle/>
                    <a:p>
                      <a:r>
                        <a:rPr sz="2000" b="1">
                          <a:solidFill>
                            <a:srgbClr val="1A1A1A"/>
                          </a:solidFill>
                          <a:latin typeface="Calibri"/>
                        </a:rPr>
                        <a:t>onnx</a:t>
                      </a:r>
                    </a:p>
                  </a:txBody>
                  <a:tcPr marL="73152" marR="73152" anchor="ctr">
                    <a:lnB w="9525">
                      <a:solidFill>
                        <a:srgbClr val="BFBFBF"/>
                      </a:solidFill>
                    </a:lnB>
                    <a:solidFill>
                      <a:srgbClr val="F2F2F2"/>
                    </a:solidFill>
                  </a:tcPr>
                </a:tc>
                <a:tc>
                  <a:txBody>
                    <a:bodyPr wrap="square"/>
                    <a:lstStyle/>
                    <a:p>
                      <a:r>
                        <a:rPr sz="2000" b="1">
                          <a:solidFill>
                            <a:srgbClr val="1A1A1A"/>
                          </a:solidFill>
                          <a:latin typeface="Calibri"/>
                        </a:rPr>
                        <a:t>precompiled</a:t>
                      </a:r>
                    </a:p>
                  </a:txBody>
                  <a:tcPr marL="73152" marR="73152" anchor="ctr">
                    <a:lnB w="9525">
                      <a:solidFill>
                        <a:srgbClr val="BFBFBF"/>
                      </a:solidFill>
                    </a:lnB>
                    <a:solidFill>
                      <a:srgbClr val="F2F2F2"/>
                    </a:solidFill>
                  </a:tcPr>
                </a:tc>
              </a:tr>
              <a:tr h="566928">
                <a:tc>
                  <a:txBody>
                    <a:bodyPr wrap="square"/>
                    <a:lstStyle/>
                    <a:p>
                      <a:r>
                        <a:rPr sz="2000" b="0">
                          <a:solidFill>
                            <a:srgbClr val="1A1A1A"/>
                          </a:solidFill>
                          <a:latin typeface="Calibri"/>
                        </a:rPr>
                        <a:t>float32 encoder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23.083</a:t>
                      </a:r>
                    </a:p>
                  </a:txBody>
                  <a:tcPr marL="73152" marR="73152" anchor="ctr">
                    <a:lnB w="9525">
                      <a:solidFill>
                        <a:srgbClr val="BFBFBF"/>
                      </a:solidFill>
                    </a:lnB>
                    <a:solidFill>
                      <a:srgbClr val="FFFFFF"/>
                    </a:solidFill>
                  </a:tcPr>
                </a:tc>
                <a:tc>
                  <a:txBody>
                    <a:bodyPr wrap="square"/>
                    <a:lstStyle/>
                    <a:p>
                      <a:r>
                        <a:rPr sz="2000" b="1">
                          <a:solidFill>
                            <a:srgbClr val="D6001C"/>
                          </a:solidFill>
                          <a:latin typeface="Calibri"/>
                        </a:rPr>
                        <a:t>23.739</a:t>
                      </a:r>
                    </a:p>
                  </a:txBody>
                  <a:tcPr marL="73152" marR="73152" anchor="ctr">
                    <a:lnB w="9525">
                      <a:solidFill>
                        <a:srgbClr val="BFBFBF"/>
                      </a:solidFill>
                    </a:lnB>
                    <a:solidFill>
                      <a:srgbClr val="FFFFFF"/>
                    </a:solidFill>
                  </a:tcPr>
                </a:tc>
              </a:tr>
              <a:tr h="566928">
                <a:tc>
                  <a:txBody>
                    <a:bodyPr wrap="square"/>
                    <a:lstStyle/>
                    <a:p>
                      <a:r>
                        <a:rPr sz="2000" b="0">
                          <a:solidFill>
                            <a:srgbClr val="1A1A1A"/>
                          </a:solidFill>
                          <a:latin typeface="Calibri"/>
                        </a:rPr>
                        <a:t>float16 encoder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rejected</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25.009</a:t>
                      </a:r>
                    </a:p>
                  </a:txBody>
                  <a:tcPr marL="73152" marR="73152" anchor="ctr">
                    <a:lnB w="9525">
                      <a:solidFill>
                        <a:srgbClr val="BFBFBF"/>
                      </a:solidFill>
                    </a:lnB>
                    <a:solidFill>
                      <a:srgbClr val="FFFFFF"/>
                    </a:solidFill>
                  </a:tcPr>
                </a:tc>
              </a:tr>
              <a:tr h="566928">
                <a:tc>
                  <a:txBody>
                    <a:bodyPr wrap="square"/>
                    <a:lstStyle/>
                    <a:p>
                      <a:r>
                        <a:rPr sz="2000" b="0">
                          <a:solidFill>
                            <a:srgbClr val="1A1A1A"/>
                          </a:solidFill>
                          <a:latin typeface="Calibri"/>
                        </a:rPr>
                        <a:t>float32 decoder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3.454</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3.587</a:t>
                      </a:r>
                    </a:p>
                  </a:txBody>
                  <a:tcPr marL="73152" marR="73152" anchor="ctr">
                    <a:lnB w="9525">
                      <a:solidFill>
                        <a:srgbClr val="BFBFBF"/>
                      </a:solidFill>
                    </a:lnB>
                    <a:solidFill>
                      <a:srgbClr val="FFFFFF"/>
                    </a:solidFill>
                  </a:tcPr>
                </a:tc>
              </a:tr>
              <a:tr h="566928">
                <a:tc>
                  <a:txBody>
                    <a:bodyPr wrap="square"/>
                    <a:lstStyle/>
                    <a:p>
                      <a:r>
                        <a:rPr sz="2000" b="0">
                          <a:solidFill>
                            <a:srgbClr val="1A1A1A"/>
                          </a:solidFill>
                          <a:latin typeface="Calibri"/>
                        </a:rPr>
                        <a:t>float16 decoder</a:t>
                      </a:r>
                    </a:p>
                  </a:txBody>
                  <a:tcPr marL="73152" marR="73152" anchor="ctr">
                    <a:lnB w="9525">
                      <a:solidFill>
                        <a:srgbClr val="BFBFBF"/>
                      </a:solidFill>
                    </a:lnB>
                    <a:solidFill>
                      <a:srgbClr val="FFFFFF"/>
                    </a:solidFill>
                  </a:tcPr>
                </a:tc>
                <a:tc>
                  <a:txBody>
                    <a:bodyPr wrap="square"/>
                    <a:lstStyle/>
                    <a:p>
                      <a:r>
                        <a:rPr sz="2000" b="0">
                          <a:solidFill>
                            <a:srgbClr val="1A1A1A"/>
                          </a:solidFill>
                          <a:latin typeface="Calibri"/>
                        </a:rPr>
                        <a:t>rejected</a:t>
                      </a:r>
                    </a:p>
                  </a:txBody>
                  <a:tcPr marL="73152" marR="73152" anchor="ctr">
                    <a:lnB w="9525">
                      <a:solidFill>
                        <a:srgbClr val="BFBFBF"/>
                      </a:solidFill>
                    </a:lnB>
                    <a:solidFill>
                      <a:srgbClr val="FFFFFF"/>
                    </a:solidFill>
                  </a:tcPr>
                </a:tc>
                <a:tc>
                  <a:txBody>
                    <a:bodyPr wrap="square"/>
                    <a:lstStyle/>
                    <a:p>
                      <a:r>
                        <a:rPr sz="2000" b="1">
                          <a:solidFill>
                            <a:srgbClr val="D6001C"/>
                          </a:solidFill>
                          <a:latin typeface="Calibri"/>
                        </a:rPr>
                        <a:t>2.375</a:t>
                      </a:r>
                    </a:p>
                  </a:txBody>
                  <a:tcPr marL="73152" marR="73152" anchor="ctr">
                    <a:lnB w="9525">
                      <a:solidFill>
                        <a:srgbClr val="BFBFBF"/>
                      </a:solidFill>
                    </a:lnB>
                    <a:solidFill>
                      <a:srgbClr val="FFFFFF"/>
                    </a:solidFill>
                  </a:tcPr>
                </a:tc>
              </a:tr>
            </a:tbl>
          </a:graphicData>
        </a:graphic>
      </p:graphicFrame>
      <p:sp>
        <p:nvSpPr>
          <p:cNvPr id="6" name="TextBox 5"/>
          <p:cNvSpPr txBox="1"/>
          <p:nvPr/>
        </p:nvSpPr>
        <p:spPr>
          <a:xfrm>
            <a:off x="457200" y="4754880"/>
            <a:ext cx="6217920" cy="822960"/>
          </a:xfrm>
          <a:prstGeom prst="rect">
            <a:avLst/>
          </a:prstGeom>
          <a:noFill/>
        </p:spPr>
        <p:txBody>
          <a:bodyPr wrap="square" anchor="t" lIns="0" rIns="0" tIns="0" bIns="0">
            <a:spAutoFit/>
          </a:bodyPr>
          <a:lstStyle/>
          <a:p>
            <a:pPr algn="l">
              <a:spcAft>
                <a:spcPts val="800"/>
              </a:spcAft>
            </a:pPr>
            <a:r>
              <a:rPr sz="2000" b="0">
                <a:solidFill>
                  <a:srgbClr val="6B6B6B"/>
                </a:solidFill>
                <a:latin typeface="Calibri"/>
              </a:rPr>
              <a:t>Red: shipped. onnx float32 is the fallback.</a:t>
            </a:r>
          </a:p>
        </p:txBody>
      </p:sp>
      <p:sp>
        <p:nvSpPr>
          <p:cNvPr id="7" name="TextBox 6"/>
          <p:cNvSpPr txBox="1"/>
          <p:nvPr/>
        </p:nvSpPr>
        <p:spPr>
          <a:xfrm>
            <a:off x="7223760" y="1783080"/>
            <a:ext cx="4480560" cy="914400"/>
          </a:xfrm>
          <a:prstGeom prst="rect">
            <a:avLst/>
          </a:prstGeom>
          <a:noFill/>
        </p:spPr>
        <p:txBody>
          <a:bodyPr wrap="square" anchor="t" lIns="0" rIns="0" tIns="0" bIns="0">
            <a:spAutoFit/>
          </a:bodyPr>
          <a:lstStyle/>
          <a:p>
            <a:pPr algn="l">
              <a:spcAft>
                <a:spcPts val="800"/>
              </a:spcAft>
            </a:pPr>
            <a:r>
              <a:rPr sz="6000" b="1">
                <a:solidFill>
                  <a:srgbClr val="D6001C"/>
                </a:solidFill>
                <a:latin typeface="Calibri"/>
              </a:rPr>
              <a:t>-33.78 %</a:t>
            </a:r>
          </a:p>
        </p:txBody>
      </p:sp>
      <p:sp>
        <p:nvSpPr>
          <p:cNvPr id="8" name="TextBox 7"/>
          <p:cNvSpPr txBox="1"/>
          <p:nvPr/>
        </p:nvSpPr>
        <p:spPr>
          <a:xfrm>
            <a:off x="7223760" y="2743200"/>
            <a:ext cx="4480560" cy="73152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decoder p50, float16 vs float32 storage</a:t>
            </a:r>
          </a:p>
        </p:txBody>
      </p:sp>
      <p:sp>
        <p:nvSpPr>
          <p:cNvPr id="9" name="TextBox 8"/>
          <p:cNvSpPr txBox="1"/>
          <p:nvPr/>
        </p:nvSpPr>
        <p:spPr>
          <a:xfrm>
            <a:off x="7223760" y="3611880"/>
            <a:ext cx="4480560" cy="2377440"/>
          </a:xfrm>
          <a:prstGeom prst="rect">
            <a:avLst/>
          </a:prstGeom>
          <a:noFill/>
        </p:spPr>
        <p:txBody>
          <a:bodyPr wrap="square" anchor="t" lIns="0" rIns="0" tIns="0" bIns="0">
            <a:spAutoFit/>
          </a:bodyPr>
          <a:lstStyle/>
          <a:p>
            <a:pPr algn="l">
              <a:spcAft>
                <a:spcPts val="800"/>
              </a:spcAft>
            </a:pPr>
            <a:r>
              <a:rPr sz="2000" b="0">
                <a:solidFill>
                  <a:srgbClr val="1A1A1A"/>
                </a:solidFill>
                <a:latin typeface="Calibri"/>
              </a:rPr>
              <a:t>Encoder: +5.35 %.</a:t>
            </a:r>
          </a:p>
          <a:p>
            <a:pPr algn="l">
              <a:spcAft>
                <a:spcPts val="800"/>
              </a:spcAft>
            </a:pPr>
            <a:r>
              <a:rPr sz="2000" b="0">
                <a:solidFill>
                  <a:srgbClr val="1A1A1A"/>
                </a:solidFill>
                <a:latin typeface="Calibri"/>
              </a:rPr>
              <a:t>23.5 MB vs 11.8 MB per decoder call (Derived from tensor shapes).</a:t>
            </a:r>
          </a:p>
          <a:p>
            <a:pPr algn="l">
              <a:spcAft>
                <a:spcPts val="800"/>
              </a:spcAft>
            </a:pPr>
            <a:r>
              <a:rPr sz="2000" b="0">
                <a:solidFill>
                  <a:srgbClr val="1A1A1A"/>
                </a:solidFill>
                <a:latin typeface="Calibri"/>
              </a:rPr>
              <a:t>Extra float32 time: cross attention cache inputs.</a:t>
            </a:r>
          </a:p>
          <a:p>
            <a:pPr algn="l">
              <a:spcAft>
                <a:spcPts val="800"/>
              </a:spcAft>
            </a:pPr>
            <a:r>
              <a:rPr sz="2000" b="0">
                <a:solidFill>
                  <a:srgbClr val="1A1A1A"/>
                </a:solidFill>
                <a:latin typeface="Calibri"/>
              </a:rPr>
              <a:t>Unexplained: float16 encoder slowdown, decoder peak memory.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Accuracy and deployment</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46520"/>
            <a:ext cx="11277295" cy="274320"/>
          </a:xfrm>
          <a:prstGeom prst="rect">
            <a:avLst/>
          </a:prstGeom>
          <a:noFill/>
        </p:spPr>
        <p:txBody>
          <a:bodyPr wrap="square" anchor="t" lIns="0" rIns="0" tIns="0" bIns="0">
            <a:spAutoFit/>
          </a:bodyPr>
          <a:lstStyle/>
          <a:p>
            <a:pPr algn="l">
              <a:spcAft>
                <a:spcPts val="800"/>
              </a:spcAft>
            </a:pPr>
            <a:r>
              <a:rPr sz="1000" b="0">
                <a:solidFill>
                  <a:srgbClr val="6B6B6B"/>
                </a:solidFill>
                <a:latin typeface="Calibri"/>
              </a:rPr>
              <a:t>Sources: eval/RESULTS.md, docs/evidence/arm64_build.json (CI run 36465028091), docs/evidence/offline_check.json.</a:t>
            </a:r>
          </a:p>
        </p:txBody>
      </p:sp>
      <p:sp>
        <p:nvSpPr>
          <p:cNvPr id="5" name="TextBox 4"/>
          <p:cNvSpPr txBox="1"/>
          <p:nvPr/>
        </p:nvSpPr>
        <p:spPr>
          <a:xfrm>
            <a:off x="457200" y="1783080"/>
            <a:ext cx="5303520" cy="4297680"/>
          </a:xfrm>
          <a:prstGeom prst="rect">
            <a:avLst/>
          </a:prstGeom>
          <a:noFill/>
        </p:spPr>
        <p:txBody>
          <a:bodyPr wrap="square" anchor="t" lIns="0" rIns="0" tIns="0" bIns="0">
            <a:spAutoFit/>
          </a:bodyPr>
          <a:lstStyle/>
          <a:p>
            <a:pPr algn="l">
              <a:spcAft>
                <a:spcPts val="800"/>
              </a:spcAft>
            </a:pPr>
            <a:r>
              <a:rPr sz="2400" b="1">
                <a:solidFill>
                  <a:srgbClr val="D6001C"/>
                </a:solidFill>
                <a:latin typeface="Calibri"/>
              </a:rPr>
              <a:t>Accuracy</a:t>
            </a:r>
          </a:p>
          <a:p>
            <a:pPr algn="l">
              <a:spcAft>
                <a:spcPts val="800"/>
              </a:spcAft>
            </a:pPr>
            <a:r>
              <a:rPr sz="2400" b="0">
                <a:solidFill>
                  <a:srgbClr val="1A1A1A"/>
                </a:solidFill>
                <a:latin typeface="Calibri"/>
              </a:rPr>
              <a:t>Eye contact: balanced accuracy 0.966 on 589 held-out frames.</a:t>
            </a:r>
          </a:p>
          <a:p>
            <a:pPr algn="l">
              <a:spcAft>
                <a:spcPts val="800"/>
              </a:spcAft>
            </a:pPr>
            <a:r>
              <a:rPr sz="2400" b="0">
                <a:solidFill>
                  <a:srgbClr val="1A1A1A"/>
                </a:solidFill>
                <a:latin typeface="Calibri"/>
              </a:rPr>
              <a:t>Fillers: not yet evaluated.</a:t>
            </a:r>
          </a:p>
          <a:p>
            <a:pPr algn="l">
              <a:spcAft>
                <a:spcPts val="800"/>
              </a:spcAft>
            </a:pPr>
            <a:r>
              <a:rPr sz="2400" b="0">
                <a:solidFill>
                  <a:srgbClr val="1A1A1A"/>
                </a:solidFill>
                <a:latin typeface="Calibri"/>
              </a:rPr>
              <a:t>Pace: not yet evaluated.</a:t>
            </a:r>
          </a:p>
          <a:p>
            <a:pPr algn="l">
              <a:spcAft>
                <a:spcPts val="800"/>
              </a:spcAft>
            </a:pPr>
            <a:r>
              <a:rPr sz="2400" b="0">
                <a:solidFill>
                  <a:srgbClr val="6B6B6B"/>
                </a:solidFill>
                <a:latin typeface="Calibri"/>
              </a:rPr>
              <a:t>Recorded clips, development machine.</a:t>
            </a:r>
          </a:p>
        </p:txBody>
      </p:sp>
      <p:sp>
        <p:nvSpPr>
          <p:cNvPr id="6" name="TextBox 5"/>
          <p:cNvSpPr txBox="1"/>
          <p:nvPr/>
        </p:nvSpPr>
        <p:spPr>
          <a:xfrm>
            <a:off x="6400800" y="1783080"/>
            <a:ext cx="5333695" cy="4297680"/>
          </a:xfrm>
          <a:prstGeom prst="rect">
            <a:avLst/>
          </a:prstGeom>
          <a:noFill/>
        </p:spPr>
        <p:txBody>
          <a:bodyPr wrap="square" anchor="t" lIns="0" rIns="0" tIns="0" bIns="0">
            <a:spAutoFit/>
          </a:bodyPr>
          <a:lstStyle/>
          <a:p>
            <a:pPr algn="l">
              <a:spcAft>
                <a:spcPts val="800"/>
              </a:spcAft>
            </a:pPr>
            <a:r>
              <a:rPr sz="2400" b="1">
                <a:solidFill>
                  <a:srgbClr val="D6001C"/>
                </a:solidFill>
                <a:latin typeface="Calibri"/>
              </a:rPr>
              <a:t>Deployment</a:t>
            </a:r>
          </a:p>
          <a:p>
            <a:pPr algn="l">
              <a:spcAft>
                <a:spcPts val="800"/>
              </a:spcAft>
            </a:pPr>
            <a:r>
              <a:rPr sz="2400" b="0">
                <a:solidFill>
                  <a:srgbClr val="1A1A1A"/>
                </a:solidFill>
                <a:latin typeface="Calibri"/>
              </a:rPr>
              <a:t>ARM64 build verified in CI, 365.6 MB.</a:t>
            </a:r>
          </a:p>
          <a:p>
            <a:pPr algn="l">
              <a:spcAft>
                <a:spcPts val="800"/>
              </a:spcAft>
            </a:pPr>
            <a:r>
              <a:rPr sz="2400" b="0">
                <a:solidFill>
                  <a:srgbClr val="1A1A1A"/>
                </a:solidFill>
                <a:latin typeface="Calibri"/>
              </a:rPr>
              <a:t>Fallback: precompiled NPU, onnx NPU, onnx CPU.</a:t>
            </a:r>
          </a:p>
          <a:p>
            <a:pPr algn="l">
              <a:spcAft>
                <a:spcPts val="800"/>
              </a:spcAft>
            </a:pPr>
            <a:r>
              <a:rPr sz="2400" b="0">
                <a:solidFill>
                  <a:srgbClr val="1A1A1A"/>
                </a:solidFill>
                <a:latin typeface="Calibri"/>
              </a:rPr>
              <a:t>Offline: 0 of 14 app requests off loopback.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1277295" cy="914400"/>
          </a:xfrm>
          <a:prstGeom prst="rect">
            <a:avLst/>
          </a:prstGeom>
          <a:noFill/>
        </p:spPr>
        <p:txBody>
          <a:bodyPr wrap="square" anchor="b" lIns="0" rIns="0" tIns="0" bIns="0">
            <a:spAutoFit/>
          </a:bodyPr>
          <a:lstStyle/>
          <a:p>
            <a:pPr algn="l">
              <a:spcAft>
                <a:spcPts val="800"/>
              </a:spcAft>
            </a:pPr>
            <a:r>
              <a:rPr sz="3200" b="1">
                <a:solidFill>
                  <a:srgbClr val="1A1A1A"/>
                </a:solidFill>
                <a:latin typeface="Calibri"/>
              </a:rPr>
              <a:t>Limitations and next milestone</a:t>
            </a:r>
          </a:p>
        </p:txBody>
      </p:sp>
      <p:sp>
        <p:nvSpPr>
          <p:cNvPr id="3" name="Rectangle 2"/>
          <p:cNvSpPr/>
          <p:nvPr/>
        </p:nvSpPr>
        <p:spPr>
          <a:xfrm>
            <a:off x="457200" y="1371600"/>
            <a:ext cx="822960" cy="54864"/>
          </a:xfrm>
          <a:prstGeom prst="rect">
            <a:avLst/>
          </a:prstGeom>
          <a:solidFill>
            <a:srgbClr val="D600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783080"/>
            <a:ext cx="5486400" cy="4297680"/>
          </a:xfrm>
          <a:prstGeom prst="rect">
            <a:avLst/>
          </a:prstGeom>
          <a:noFill/>
        </p:spPr>
        <p:txBody>
          <a:bodyPr wrap="square" anchor="t" lIns="0" rIns="0" tIns="0" bIns="0">
            <a:spAutoFit/>
          </a:bodyPr>
          <a:lstStyle/>
          <a:p>
            <a:pPr algn="l">
              <a:spcAft>
                <a:spcPts val="800"/>
              </a:spcAft>
            </a:pPr>
            <a:r>
              <a:rPr sz="2400" b="1">
                <a:solidFill>
                  <a:srgbClr val="D6001C"/>
                </a:solidFill>
                <a:latin typeface="Calibri"/>
              </a:rPr>
              <a:t>Next milestone: validation on a physical Snapdragon laptop</a:t>
            </a:r>
          </a:p>
          <a:p>
            <a:pPr algn="l">
              <a:spcAft>
                <a:spcPts val="800"/>
              </a:spcAft>
            </a:pPr>
            <a:r>
              <a:rPr sz="2400" b="0">
                <a:solidFill>
                  <a:srgbClr val="1A1A1A"/>
                </a:solidFill>
                <a:latin typeface="Calibri"/>
              </a:rPr>
              <a:t>Context binary loading</a:t>
            </a:r>
          </a:p>
          <a:p>
            <a:pPr algn="l">
              <a:spcAft>
                <a:spcPts val="800"/>
              </a:spcAft>
            </a:pPr>
            <a:r>
              <a:rPr sz="2400" b="0">
                <a:solidFill>
                  <a:srgbClr val="1A1A1A"/>
                </a:solidFill>
                <a:latin typeface="Calibri"/>
              </a:rPr>
              <a:t>NPU shared by Whisper and vision</a:t>
            </a:r>
          </a:p>
          <a:p>
            <a:pPr algn="l">
              <a:spcAft>
                <a:spcPts val="800"/>
              </a:spcAft>
            </a:pPr>
            <a:r>
              <a:rPr sz="2400" b="0">
                <a:solidFill>
                  <a:srgbClr val="1A1A1A"/>
                </a:solidFill>
                <a:latin typeface="Calibri"/>
              </a:rPr>
              <a:t>NPU float16 transcripts</a:t>
            </a:r>
          </a:p>
          <a:p>
            <a:pPr algn="l">
              <a:spcAft>
                <a:spcPts val="800"/>
              </a:spcAft>
            </a:pPr>
            <a:r>
              <a:rPr sz="2400" b="0">
                <a:solidFill>
                  <a:srgbClr val="1A1A1A"/>
                </a:solidFill>
                <a:latin typeface="Calibri"/>
              </a:rPr>
              <a:t>Fallback chain on real hardware</a:t>
            </a:r>
          </a:p>
        </p:txBody>
      </p:sp>
      <p:sp>
        <p:nvSpPr>
          <p:cNvPr id="5" name="TextBox 4"/>
          <p:cNvSpPr txBox="1"/>
          <p:nvPr/>
        </p:nvSpPr>
        <p:spPr>
          <a:xfrm>
            <a:off x="6400800" y="1783080"/>
            <a:ext cx="5333695" cy="4297680"/>
          </a:xfrm>
          <a:prstGeom prst="rect">
            <a:avLst/>
          </a:prstGeom>
          <a:noFill/>
        </p:spPr>
        <p:txBody>
          <a:bodyPr wrap="square" anchor="t" lIns="0" rIns="0" tIns="0" bIns="0">
            <a:spAutoFit/>
          </a:bodyPr>
          <a:lstStyle/>
          <a:p>
            <a:pPr algn="l">
              <a:spcAft>
                <a:spcPts val="800"/>
              </a:spcAft>
            </a:pPr>
            <a:r>
              <a:rPr sz="2400" b="1">
                <a:solidFill>
                  <a:srgbClr val="D6001C"/>
                </a:solidFill>
                <a:latin typeface="Calibri"/>
              </a:rPr>
              <a:t>Limits</a:t>
            </a:r>
          </a:p>
          <a:p>
            <a:pPr algn="l">
              <a:spcAft>
                <a:spcPts val="800"/>
              </a:spcAft>
            </a:pPr>
            <a:r>
              <a:rPr sz="2400" b="0">
                <a:solidFill>
                  <a:srgbClr val="1A1A1A"/>
                </a:solidFill>
                <a:latin typeface="Calibri"/>
              </a:rPr>
              <a:t>One speaker, one room, small samples.</a:t>
            </a:r>
          </a:p>
          <a:p>
            <a:pPr algn="l">
              <a:spcAft>
                <a:spcPts val="800"/>
              </a:spcAft>
            </a:pPr>
            <a:r>
              <a:rPr sz="2400" b="0">
                <a:solidFill>
                  <a:srgbClr val="1A1A1A"/>
                </a:solidFill>
                <a:latin typeface="Calibri"/>
              </a:rPr>
              <a:t>Head pose: camera and screen overlap.</a:t>
            </a:r>
          </a:p>
          <a:p>
            <a:pPr algn="l">
              <a:spcAft>
                <a:spcPts val="800"/>
              </a:spcAft>
            </a:pPr>
            <a:r>
              <a:rPr sz="2400" b="0">
                <a:solidFill>
                  <a:srgbClr val="1A1A1A"/>
                </a:solidFill>
                <a:latin typeface="Calibri"/>
              </a:rPr>
              <a:t>Guidelines not validated.</a:t>
            </a:r>
          </a:p>
          <a:p>
            <a:pPr algn="l">
              <a:spcAft>
                <a:spcPts val="800"/>
              </a:spcAft>
            </a:pPr>
            <a:r>
              <a:rPr sz="2400" b="0">
                <a:solidFill>
                  <a:srgbClr val="1A1A1A"/>
                </a:solidFill>
                <a:latin typeface="Calibri"/>
              </a:rPr>
              <a:t>Future: on-device content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